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4" r:id="rId9"/>
    <p:sldId id="271" r:id="rId10"/>
    <p:sldId id="272" r:id="rId11"/>
    <p:sldId id="265" r:id="rId12"/>
    <p:sldId id="266" r:id="rId13"/>
    <p:sldId id="273" r:id="rId14"/>
    <p:sldId id="267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27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89.xml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0" y="771525"/>
            <a:ext cx="6267450" cy="5314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25210" y="2597785"/>
            <a:ext cx="54495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/>
              <a:t>免费</a:t>
            </a:r>
            <a:r>
              <a:rPr lang="en-US" altLang="zh-CN" sz="5400"/>
              <a:t>ai</a:t>
            </a:r>
            <a:r>
              <a:rPr lang="zh-CN" altLang="en-US" sz="5400"/>
              <a:t>漫剧制作</a:t>
            </a:r>
            <a:endParaRPr lang="zh-CN" altLang="en-US" sz="5400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6635750" y="3659505"/>
            <a:ext cx="4006215" cy="152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6635750" y="3988435"/>
            <a:ext cx="4053205" cy="661670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682105" y="4119880"/>
            <a:ext cx="4006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/>
              <a:t>    </a:t>
            </a:r>
            <a:r>
              <a:rPr lang="zh-CN" altLang="en-US" sz="2400"/>
              <a:t>主要工具：豆包、即梦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720" y="262325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漫剧制作全流程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平行四边形 21"/>
          <p:cNvSpPr/>
          <p:nvPr>
            <p:custDataLst>
              <p:tags r:id="rId2"/>
            </p:custDataLst>
          </p:nvPr>
        </p:nvSpPr>
        <p:spPr>
          <a:xfrm flipH="1">
            <a:off x="3966211" y="2945130"/>
            <a:ext cx="1574165" cy="939800"/>
          </a:xfrm>
          <a:prstGeom prst="parallelogram">
            <a:avLst>
              <a:gd name="adj" fmla="val 81259"/>
            </a:avLst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平行四边形 24"/>
          <p:cNvSpPr/>
          <p:nvPr>
            <p:custDataLst>
              <p:tags r:id="rId3"/>
            </p:custDataLst>
          </p:nvPr>
        </p:nvSpPr>
        <p:spPr>
          <a:xfrm flipH="1">
            <a:off x="6000751" y="2661285"/>
            <a:ext cx="1601470" cy="939800"/>
          </a:xfrm>
          <a:prstGeom prst="parallelogram">
            <a:avLst>
              <a:gd name="adj" fmla="val 83583"/>
            </a:avLst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平行四边形 5"/>
          <p:cNvSpPr/>
          <p:nvPr>
            <p:custDataLst>
              <p:tags r:id="rId4"/>
            </p:custDataLst>
          </p:nvPr>
        </p:nvSpPr>
        <p:spPr>
          <a:xfrm flipH="1">
            <a:off x="1956436" y="3234690"/>
            <a:ext cx="1532255" cy="939800"/>
          </a:xfrm>
          <a:prstGeom prst="parallelogram">
            <a:avLst>
              <a:gd name="adj" fmla="val 80061"/>
            </a:avLst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2" name="直接连接符 31"/>
          <p:cNvCxnSpPr/>
          <p:nvPr>
            <p:custDataLst>
              <p:tags r:id="rId5"/>
            </p:custDataLst>
          </p:nvPr>
        </p:nvCxnSpPr>
        <p:spPr>
          <a:xfrm>
            <a:off x="676910" y="5053965"/>
            <a:ext cx="1578610" cy="0"/>
          </a:xfrm>
          <a:prstGeom prst="line">
            <a:avLst/>
          </a:prstGeom>
          <a:ln cap="flat">
            <a:gradFill>
              <a:gsLst>
                <a:gs pos="0">
                  <a:srgbClr val="AFC6FF">
                    <a:alpha val="0"/>
                  </a:srgbClr>
                </a:gs>
                <a:gs pos="100000">
                  <a:srgbClr val="376FFF">
                    <a:alpha val="0"/>
                  </a:srgbClr>
                </a:gs>
                <a:gs pos="0">
                  <a:schemeClr val="accent1">
                    <a:alpha val="100000"/>
                  </a:schemeClr>
                </a:gs>
              </a:gsLst>
              <a:lin ang="0" scaled="0"/>
            </a:gra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文"/>
          <p:cNvSpPr txBox="1"/>
          <p:nvPr>
            <p:custDataLst>
              <p:tags r:id="rId6"/>
            </p:custDataLst>
          </p:nvPr>
        </p:nvSpPr>
        <p:spPr>
          <a:xfrm>
            <a:off x="676910" y="5116195"/>
            <a:ext cx="1738630" cy="14058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大片段文字</a:t>
            </a:r>
            <a:endParaRPr lang="zh-CN" altLang="en-US" sz="14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标题"/>
          <p:cNvSpPr txBox="1"/>
          <p:nvPr>
            <p:custDataLst>
              <p:tags r:id="rId7"/>
            </p:custDataLst>
          </p:nvPr>
        </p:nvSpPr>
        <p:spPr>
          <a:xfrm>
            <a:off x="676910" y="4494530"/>
            <a:ext cx="1738630" cy="4978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 spc="3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获取剧本</a:t>
            </a:r>
            <a:endParaRPr lang="zh-CN" altLang="en-US" b="1" spc="300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8" name="平行四边形 7"/>
          <p:cNvSpPr/>
          <p:nvPr>
            <p:custDataLst>
              <p:tags r:id="rId8"/>
            </p:custDataLst>
          </p:nvPr>
        </p:nvSpPr>
        <p:spPr>
          <a:xfrm>
            <a:off x="652780" y="3234690"/>
            <a:ext cx="2080260" cy="1228725"/>
          </a:xfrm>
          <a:prstGeom prst="parallelogram">
            <a:avLst>
              <a:gd name="adj" fmla="val 64618"/>
            </a:avLst>
          </a:prstGeom>
          <a:gradFill>
            <a:gsLst>
              <a:gs pos="39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sz="3200" b="1">
                <a:solidFill>
                  <a:srgbClr val="FFFFFF"/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01</a:t>
            </a:r>
            <a:endParaRPr lang="en-US" sz="3200" b="1">
              <a:solidFill>
                <a:srgbClr val="FFFFFF"/>
              </a:solidFill>
              <a:latin typeface="+mj-lt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20" name="平行四边形 19"/>
          <p:cNvSpPr/>
          <p:nvPr>
            <p:custDataLst>
              <p:tags r:id="rId9"/>
            </p:custDataLst>
          </p:nvPr>
        </p:nvSpPr>
        <p:spPr>
          <a:xfrm>
            <a:off x="2700656" y="2947035"/>
            <a:ext cx="2080260" cy="1228725"/>
          </a:xfrm>
          <a:prstGeom prst="parallelogram">
            <a:avLst>
              <a:gd name="adj" fmla="val 64618"/>
            </a:avLst>
          </a:prstGeom>
          <a:gradFill>
            <a:gsLst>
              <a:gs pos="3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3200" b="1">
                <a:solidFill>
                  <a:srgbClr val="FFFFFF"/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02</a:t>
            </a:r>
            <a:endParaRPr lang="en-US" altLang="zh-CN" sz="3200" b="1">
              <a:solidFill>
                <a:srgbClr val="FFFFFF"/>
              </a:solidFill>
              <a:latin typeface="+mj-lt"/>
              <a:ea typeface="微软雅黑" panose="020B0503020204020204" charset="-122"/>
              <a:cs typeface="+mj-lt"/>
              <a:sym typeface="+mn-ea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10"/>
            </p:custDataLst>
          </p:nvPr>
        </p:nvCxnSpPr>
        <p:spPr>
          <a:xfrm>
            <a:off x="2687956" y="4754245"/>
            <a:ext cx="1578610" cy="0"/>
          </a:xfrm>
          <a:prstGeom prst="line">
            <a:avLst/>
          </a:prstGeom>
          <a:ln cap="flat">
            <a:gradFill>
              <a:gsLst>
                <a:gs pos="0">
                  <a:srgbClr val="AFC6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  <a:gs pos="0">
                  <a:schemeClr val="accent2">
                    <a:alpha val="100000"/>
                  </a:schemeClr>
                </a:gs>
              </a:gsLst>
              <a:lin ang="0" scaled="0"/>
            </a:gra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文"/>
          <p:cNvSpPr txBox="1"/>
          <p:nvPr>
            <p:custDataLst>
              <p:tags r:id="rId11"/>
            </p:custDataLst>
          </p:nvPr>
        </p:nvSpPr>
        <p:spPr>
          <a:xfrm>
            <a:off x="2687956" y="4815840"/>
            <a:ext cx="1738630" cy="14058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spc="1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剧本拆解</a:t>
            </a:r>
            <a:endParaRPr lang="zh-CN" altLang="en-US" sz="1400" kern="0" spc="1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7" name="标题"/>
          <p:cNvSpPr txBox="1"/>
          <p:nvPr>
            <p:custDataLst>
              <p:tags r:id="rId12"/>
            </p:custDataLst>
          </p:nvPr>
        </p:nvSpPr>
        <p:spPr>
          <a:xfrm>
            <a:off x="2687956" y="4194175"/>
            <a:ext cx="1738630" cy="4978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 spc="300" dirty="0">
                <a:solidFill>
                  <a:schemeClr val="accent2"/>
                </a:solidFill>
                <a:latin typeface="+mj-ea"/>
                <a:ea typeface="+mj-ea"/>
                <a:sym typeface="+mn-ea"/>
              </a:rPr>
              <a:t>分镜描述</a:t>
            </a:r>
            <a:endParaRPr lang="zh-CN" altLang="en-US" b="1" spc="300" dirty="0">
              <a:solidFill>
                <a:schemeClr val="accent2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3" name="平行四边形 22"/>
          <p:cNvSpPr/>
          <p:nvPr>
            <p:custDataLst>
              <p:tags r:id="rId13"/>
            </p:custDataLst>
          </p:nvPr>
        </p:nvSpPr>
        <p:spPr>
          <a:xfrm>
            <a:off x="4735831" y="2657475"/>
            <a:ext cx="2080260" cy="1228725"/>
          </a:xfrm>
          <a:prstGeom prst="parallelogram">
            <a:avLst>
              <a:gd name="adj" fmla="val 64618"/>
            </a:avLst>
          </a:prstGeom>
          <a:gradFill>
            <a:gsLst>
              <a:gs pos="39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sz="3200" b="1">
                <a:solidFill>
                  <a:srgbClr val="FFFFFF"/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03</a:t>
            </a:r>
            <a:endParaRPr lang="en-US" sz="3200" b="1">
              <a:solidFill>
                <a:srgbClr val="FFFFFF"/>
              </a:solidFill>
              <a:latin typeface="+mj-lt"/>
              <a:ea typeface="微软雅黑" panose="020B0503020204020204" charset="-122"/>
              <a:cs typeface="+mj-lt"/>
              <a:sym typeface="+mn-ea"/>
            </a:endParaRPr>
          </a:p>
        </p:txBody>
      </p:sp>
      <p:cxnSp>
        <p:nvCxnSpPr>
          <p:cNvPr id="56" name="直接连接符 55"/>
          <p:cNvCxnSpPr/>
          <p:nvPr>
            <p:custDataLst>
              <p:tags r:id="rId14"/>
            </p:custDataLst>
          </p:nvPr>
        </p:nvCxnSpPr>
        <p:spPr>
          <a:xfrm>
            <a:off x="4746626" y="4467860"/>
            <a:ext cx="1578610" cy="0"/>
          </a:xfrm>
          <a:prstGeom prst="line">
            <a:avLst/>
          </a:prstGeom>
          <a:ln cap="flat">
            <a:gradFill>
              <a:gsLst>
                <a:gs pos="0">
                  <a:srgbClr val="AFC6FF">
                    <a:alpha val="0"/>
                  </a:srgbClr>
                </a:gs>
                <a:gs pos="100000">
                  <a:srgbClr val="376FFF">
                    <a:alpha val="0"/>
                  </a:srgbClr>
                </a:gs>
                <a:gs pos="0">
                  <a:schemeClr val="accent1">
                    <a:alpha val="100000"/>
                  </a:schemeClr>
                </a:gs>
              </a:gsLst>
              <a:lin ang="0" scaled="0"/>
            </a:gra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正文"/>
          <p:cNvSpPr txBox="1"/>
          <p:nvPr>
            <p:custDataLst>
              <p:tags r:id="rId15"/>
            </p:custDataLst>
          </p:nvPr>
        </p:nvSpPr>
        <p:spPr>
          <a:xfrm>
            <a:off x="4746626" y="4529455"/>
            <a:ext cx="1738630" cy="14058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文生图</a:t>
            </a:r>
            <a:endParaRPr lang="zh-CN" altLang="en-US" sz="14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8" name="标题"/>
          <p:cNvSpPr txBox="1"/>
          <p:nvPr>
            <p:custDataLst>
              <p:tags r:id="rId16"/>
            </p:custDataLst>
          </p:nvPr>
        </p:nvSpPr>
        <p:spPr>
          <a:xfrm>
            <a:off x="4746626" y="3907790"/>
            <a:ext cx="1738630" cy="4978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 spc="3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角色设定</a:t>
            </a:r>
            <a:endParaRPr lang="zh-CN" altLang="en-US" b="1" spc="300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9" name="平行四边形 8"/>
          <p:cNvSpPr/>
          <p:nvPr>
            <p:custDataLst>
              <p:tags r:id="rId17"/>
            </p:custDataLst>
          </p:nvPr>
        </p:nvSpPr>
        <p:spPr>
          <a:xfrm flipH="1">
            <a:off x="8072756" y="2371090"/>
            <a:ext cx="1540510" cy="930910"/>
          </a:xfrm>
          <a:prstGeom prst="parallelogram">
            <a:avLst>
              <a:gd name="adj" fmla="val 81259"/>
            </a:avLst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平行四边形 9"/>
          <p:cNvSpPr/>
          <p:nvPr>
            <p:custDataLst>
              <p:tags r:id="rId18"/>
            </p:custDataLst>
          </p:nvPr>
        </p:nvSpPr>
        <p:spPr>
          <a:xfrm>
            <a:off x="6783706" y="2372995"/>
            <a:ext cx="2080260" cy="1228725"/>
          </a:xfrm>
          <a:prstGeom prst="parallelogram">
            <a:avLst>
              <a:gd name="adj" fmla="val 64618"/>
            </a:avLst>
          </a:prstGeom>
          <a:gradFill>
            <a:gsLst>
              <a:gs pos="3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3200" b="1">
                <a:solidFill>
                  <a:srgbClr val="FFFFFF"/>
                </a:solidFill>
                <a:latin typeface="+mj-lt"/>
                <a:ea typeface="微软雅黑" panose="020B0503020204020204" charset="-122"/>
                <a:cs typeface="+mj-lt"/>
                <a:sym typeface="+mn-ea"/>
              </a:rPr>
              <a:t>04</a:t>
            </a:r>
            <a:endParaRPr lang="en-US" altLang="zh-CN" sz="3200" b="1">
              <a:solidFill>
                <a:srgbClr val="FFFFFF"/>
              </a:solidFill>
              <a:latin typeface="+mj-lt"/>
              <a:ea typeface="微软雅黑" panose="020B0503020204020204" charset="-122"/>
              <a:cs typeface="+mj-lt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19"/>
            </p:custDataLst>
          </p:nvPr>
        </p:nvCxnSpPr>
        <p:spPr>
          <a:xfrm>
            <a:off x="6771006" y="4180205"/>
            <a:ext cx="1578610" cy="0"/>
          </a:xfrm>
          <a:prstGeom prst="line">
            <a:avLst/>
          </a:prstGeom>
          <a:ln cap="flat">
            <a:gradFill>
              <a:gsLst>
                <a:gs pos="0">
                  <a:srgbClr val="AFC6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  <a:gs pos="0">
                  <a:schemeClr val="accent2">
                    <a:alpha val="100000"/>
                  </a:schemeClr>
                </a:gs>
              </a:gsLst>
              <a:lin ang="0" scaled="0"/>
            </a:gra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文"/>
          <p:cNvSpPr txBox="1"/>
          <p:nvPr>
            <p:custDataLst>
              <p:tags r:id="rId20"/>
            </p:custDataLst>
          </p:nvPr>
        </p:nvSpPr>
        <p:spPr>
          <a:xfrm>
            <a:off x="6771006" y="4241800"/>
            <a:ext cx="1738630" cy="14058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spc="15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图片加文字生视频</a:t>
            </a:r>
            <a:endParaRPr lang="zh-CN" altLang="en-US" sz="1400" kern="0" spc="1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标题"/>
          <p:cNvSpPr txBox="1"/>
          <p:nvPr>
            <p:custDataLst>
              <p:tags r:id="rId21"/>
            </p:custDataLst>
          </p:nvPr>
        </p:nvSpPr>
        <p:spPr>
          <a:xfrm>
            <a:off x="6771006" y="3620135"/>
            <a:ext cx="1738630" cy="4978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 spc="300" dirty="0">
                <a:solidFill>
                  <a:schemeClr val="accent2"/>
                </a:solidFill>
                <a:latin typeface="+mj-ea"/>
                <a:ea typeface="+mj-ea"/>
                <a:sym typeface="+mn-ea"/>
              </a:rPr>
              <a:t>视频生成</a:t>
            </a:r>
            <a:endParaRPr lang="zh-CN" altLang="en-US" b="1" spc="300" dirty="0">
              <a:solidFill>
                <a:schemeClr val="accent2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8825866" y="1377315"/>
            <a:ext cx="2424430" cy="1924685"/>
          </a:xfrm>
          <a:custGeom>
            <a:avLst/>
            <a:gdLst>
              <a:gd name="connsiteX0" fmla="*/ 1215 w 4043"/>
              <a:gd name="connsiteY0" fmla="*/ 1402 h 4402"/>
              <a:gd name="connsiteX1" fmla="*/ 3330 w 4043"/>
              <a:gd name="connsiteY1" fmla="*/ 0 h 4402"/>
              <a:gd name="connsiteX2" fmla="*/ 4043 w 4043"/>
              <a:gd name="connsiteY2" fmla="*/ 1440 h 4402"/>
              <a:gd name="connsiteX3" fmla="*/ 3518 w 4043"/>
              <a:gd name="connsiteY3" fmla="*/ 1440 h 4402"/>
              <a:gd name="connsiteX4" fmla="*/ 1778 w 4043"/>
              <a:gd name="connsiteY4" fmla="*/ 4395 h 4402"/>
              <a:gd name="connsiteX5" fmla="*/ 0 w 4043"/>
              <a:gd name="connsiteY5" fmla="*/ 4402 h 4402"/>
              <a:gd name="connsiteX6" fmla="*/ 1718 w 4043"/>
              <a:gd name="connsiteY6" fmla="*/ 1417 h 4402"/>
              <a:gd name="connsiteX7" fmla="*/ 1215 w 4043"/>
              <a:gd name="connsiteY7" fmla="*/ 1402 h 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77" h="4002">
                <a:moveTo>
                  <a:pt x="3478" y="0"/>
                </a:moveTo>
                <a:lnTo>
                  <a:pt x="4277" y="1440"/>
                </a:lnTo>
                <a:lnTo>
                  <a:pt x="3688" y="1440"/>
                </a:lnTo>
                <a:lnTo>
                  <a:pt x="3417" y="1851"/>
                </a:lnTo>
                <a:lnTo>
                  <a:pt x="3408" y="1851"/>
                </a:lnTo>
                <a:lnTo>
                  <a:pt x="2018" y="4002"/>
                </a:lnTo>
                <a:lnTo>
                  <a:pt x="0" y="4002"/>
                </a:lnTo>
                <a:lnTo>
                  <a:pt x="1390" y="1851"/>
                </a:lnTo>
                <a:lnTo>
                  <a:pt x="1390" y="1851"/>
                </a:lnTo>
                <a:lnTo>
                  <a:pt x="1670" y="1417"/>
                </a:lnTo>
                <a:lnTo>
                  <a:pt x="1106" y="1402"/>
                </a:lnTo>
                <a:lnTo>
                  <a:pt x="3478" y="0"/>
                </a:lnTo>
                <a:close/>
              </a:path>
            </a:pathLst>
          </a:custGeom>
          <a:gradFill>
            <a:gsLst>
              <a:gs pos="39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762635" tIns="980440" rIns="1031875" bIns="370840" numCol="1" spcCol="0" rtlCol="0" fromWordArt="0" anchor="ctr" anchorCtr="0" forceAA="0" compatLnSpc="1">
            <a:normAutofit/>
          </a:bodyPr>
          <a:p>
            <a:pPr algn="ctr"/>
            <a:r>
              <a:rPr lang="en-US" altLang="zh-CN" sz="3200" b="1">
                <a:solidFill>
                  <a:srgbClr val="FFFFFF"/>
                </a:solidFill>
                <a:latin typeface="+mj-lt"/>
                <a:ea typeface="微软雅黑" panose="020B0503020204020204" charset="-122"/>
                <a:cs typeface="+mj-lt"/>
              </a:rPr>
              <a:t>05</a:t>
            </a:r>
            <a:endParaRPr lang="en-US" altLang="zh-CN" sz="3200" b="1">
              <a:solidFill>
                <a:srgbClr val="FFFFFF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23"/>
            </p:custDataLst>
          </p:nvPr>
        </p:nvCxnSpPr>
        <p:spPr>
          <a:xfrm>
            <a:off x="8818881" y="3867785"/>
            <a:ext cx="1578610" cy="0"/>
          </a:xfrm>
          <a:prstGeom prst="line">
            <a:avLst/>
          </a:prstGeom>
          <a:ln cap="flat">
            <a:gradFill>
              <a:gsLst>
                <a:gs pos="0">
                  <a:srgbClr val="AFC6FF">
                    <a:alpha val="0"/>
                  </a:srgbClr>
                </a:gs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00000"/>
                  </a:schemeClr>
                </a:gs>
              </a:gsLst>
              <a:lin ang="0" scaled="0"/>
            </a:gra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文"/>
          <p:cNvSpPr txBox="1"/>
          <p:nvPr>
            <p:custDataLst>
              <p:tags r:id="rId24"/>
            </p:custDataLst>
          </p:nvPr>
        </p:nvSpPr>
        <p:spPr>
          <a:xfrm>
            <a:off x="8818880" y="3930015"/>
            <a:ext cx="2312035" cy="14058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片段合成完整视频</a:t>
            </a:r>
            <a:endParaRPr lang="zh-CN" altLang="en-US" sz="140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标题"/>
          <p:cNvSpPr txBox="1"/>
          <p:nvPr>
            <p:custDataLst>
              <p:tags r:id="rId25"/>
            </p:custDataLst>
          </p:nvPr>
        </p:nvSpPr>
        <p:spPr>
          <a:xfrm>
            <a:off x="8818881" y="3308350"/>
            <a:ext cx="1738630" cy="49784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b="1" spc="3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剪辑合成</a:t>
            </a:r>
            <a:endParaRPr lang="zh-CN" altLang="en-US" b="1" spc="300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720" y="262325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1.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剧本获取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圆角矩形 1"/>
          <p:cNvSpPr/>
          <p:nvPr>
            <p:custDataLst>
              <p:tags r:id="rId2"/>
            </p:custDataLst>
          </p:nvPr>
        </p:nvSpPr>
        <p:spPr>
          <a:xfrm>
            <a:off x="1278573" y="1319848"/>
            <a:ext cx="4509549" cy="2226897"/>
          </a:xfrm>
          <a:prstGeom prst="roundRect">
            <a:avLst>
              <a:gd name="adj" fmla="val 0"/>
            </a:avLst>
          </a:prstGeom>
          <a:solidFill>
            <a:srgbClr val="376FFF">
              <a:alpha val="10000"/>
            </a:srgbClr>
          </a:solidFill>
          <a:ln w="25400"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1793558" y="1982153"/>
            <a:ext cx="3651495" cy="139277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这个对新手不友好，必须在规定时间内做完，</a:t>
            </a:r>
            <a:r>
              <a:rPr lang="zh-CN" altLang="en-US" b="1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  <a:sym typeface="+mn-ea"/>
              </a:rPr>
              <a:t>不然要承担一定的违约责任</a:t>
            </a:r>
            <a:r>
              <a:rPr lang="en-US" altLang="zh-CN" b="1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  <a:sym typeface="+mn-ea"/>
              </a:rPr>
              <a:t>!!!</a:t>
            </a:r>
            <a:r>
              <a:rPr lang="zh-CN" altLang="en-US" b="1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  <a:sym typeface="+mn-ea"/>
              </a:rPr>
              <a:t>（新手不推荐）</a:t>
            </a:r>
            <a:endParaRPr lang="zh-CN" altLang="en-US" b="1" dirty="0">
              <a:ln>
                <a:noFill/>
                <a:prstDash val="sysDot"/>
              </a:ln>
              <a:solidFill>
                <a:srgbClr val="C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793558" y="1417638"/>
            <a:ext cx="3651495" cy="5642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376FFF"/>
                </a:solidFill>
                <a:latin typeface="+mn-ea"/>
                <a:cs typeface="+mn-ea"/>
                <a:sym typeface="+mn-ea"/>
              </a:rPr>
              <a:t>获取小说</a:t>
            </a:r>
            <a:r>
              <a:rPr lang="en-US" altLang="zh-CN" sz="2200" b="1">
                <a:solidFill>
                  <a:srgbClr val="376FFF"/>
                </a:solidFill>
                <a:latin typeface="+mn-ea"/>
                <a:cs typeface="+mn-ea"/>
                <a:sym typeface="+mn-ea"/>
              </a:rPr>
              <a:t>IP</a:t>
            </a:r>
            <a:r>
              <a:rPr lang="zh-CN" altLang="en-US" sz="2200" b="1">
                <a:solidFill>
                  <a:srgbClr val="376FFF"/>
                </a:solidFill>
                <a:latin typeface="+mn-ea"/>
                <a:cs typeface="+mn-ea"/>
                <a:sym typeface="+mn-ea"/>
              </a:rPr>
              <a:t>进行改编</a:t>
            </a:r>
            <a:endParaRPr lang="zh-CN" altLang="en-US" sz="2200" b="1">
              <a:solidFill>
                <a:srgbClr val="376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675958" y="1319848"/>
            <a:ext cx="921785" cy="16441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1500" b="1" dirty="0">
                <a:gradFill flip="none" rotWithShape="1">
                  <a:gsLst>
                    <a:gs pos="0">
                      <a:srgbClr val="376FFF">
                        <a:lumMod val="40000"/>
                        <a:lumOff val="60000"/>
                      </a:srgbClr>
                    </a:gs>
                    <a:gs pos="72000">
                      <a:srgbClr val="376FFF"/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rPr>
              <a:t>1</a:t>
            </a:r>
            <a:endParaRPr lang="zh-CN" altLang="en-US" sz="11500" b="1" dirty="0">
              <a:gradFill flip="none" rotWithShape="1">
                <a:gsLst>
                  <a:gs pos="0">
                    <a:srgbClr val="376FFF">
                      <a:lumMod val="40000"/>
                      <a:lumOff val="60000"/>
                    </a:srgbClr>
                  </a:gs>
                  <a:gs pos="72000">
                    <a:srgbClr val="376FFF"/>
                  </a:gs>
                </a:gsLst>
                <a:lin ang="2700000" scaled="1"/>
                <a:tileRect/>
              </a:gradFill>
              <a:latin typeface="+mn-ea"/>
              <a:cs typeface="+mn-ea"/>
              <a:sym typeface="+mn-ea"/>
            </a:endParaRPr>
          </a:p>
        </p:txBody>
      </p:sp>
      <p:sp>
        <p:nvSpPr>
          <p:cNvPr id="35" name="圆角矩形 1"/>
          <p:cNvSpPr/>
          <p:nvPr>
            <p:custDataLst>
              <p:tags r:id="rId6"/>
            </p:custDataLst>
          </p:nvPr>
        </p:nvSpPr>
        <p:spPr>
          <a:xfrm>
            <a:off x="6966268" y="1319848"/>
            <a:ext cx="4509549" cy="2226897"/>
          </a:xfrm>
          <a:prstGeom prst="roundRect">
            <a:avLst>
              <a:gd name="adj" fmla="val 0"/>
            </a:avLst>
          </a:prstGeom>
          <a:solidFill>
            <a:srgbClr val="376FFF">
              <a:alpha val="10000"/>
            </a:srgbClr>
          </a:solidFill>
          <a:ln w="25400"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6363018" y="1312228"/>
            <a:ext cx="921785" cy="16441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15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2</a:t>
            </a:r>
            <a:endParaRPr lang="en-US" altLang="zh-CN" sz="115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1" name="圆角矩形 1"/>
          <p:cNvSpPr/>
          <p:nvPr>
            <p:custDataLst>
              <p:tags r:id="rId8"/>
            </p:custDataLst>
          </p:nvPr>
        </p:nvSpPr>
        <p:spPr>
          <a:xfrm>
            <a:off x="1278573" y="3813493"/>
            <a:ext cx="4509549" cy="2226897"/>
          </a:xfrm>
          <a:prstGeom prst="roundRect">
            <a:avLst>
              <a:gd name="adj" fmla="val 0"/>
            </a:avLst>
          </a:prstGeom>
          <a:solidFill>
            <a:srgbClr val="376FFF">
              <a:alpha val="10000"/>
            </a:srgbClr>
          </a:solidFill>
          <a:ln w="25400"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1793558" y="4475798"/>
            <a:ext cx="3651495" cy="139277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自己做原创小说，火了就是属于自己的，但是耗精力比较多。</a:t>
            </a:r>
            <a:endParaRPr lang="zh-CN" altLang="en-US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1793558" y="3911283"/>
            <a:ext cx="3651495" cy="5642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376FFF"/>
                </a:solidFill>
                <a:latin typeface="+mn-ea"/>
                <a:cs typeface="+mn-ea"/>
                <a:sym typeface="+mn-ea"/>
              </a:rPr>
              <a:t>自己写原创小说</a:t>
            </a:r>
            <a:endParaRPr lang="zh-CN" altLang="en-US" sz="2200" b="1">
              <a:solidFill>
                <a:srgbClr val="376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675323" y="3813493"/>
            <a:ext cx="921785" cy="16441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1500" b="1">
                <a:gradFill flip="none" rotWithShape="1">
                  <a:gsLst>
                    <a:gs pos="0">
                      <a:srgbClr val="376FFF">
                        <a:lumMod val="40000"/>
                        <a:lumOff val="60000"/>
                      </a:srgbClr>
                    </a:gs>
                    <a:gs pos="72000">
                      <a:srgbClr val="376FFF"/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rPr>
              <a:t>3</a:t>
            </a:r>
            <a:endParaRPr lang="zh-CN" altLang="en-US" sz="11500" b="1">
              <a:gradFill flip="none" rotWithShape="1">
                <a:gsLst>
                  <a:gs pos="0">
                    <a:srgbClr val="376FFF">
                      <a:lumMod val="40000"/>
                      <a:lumOff val="60000"/>
                    </a:srgbClr>
                  </a:gs>
                  <a:gs pos="72000">
                    <a:srgbClr val="376FFF"/>
                  </a:gs>
                </a:gsLst>
                <a:lin ang="2700000" scaled="1"/>
                <a:tileRect/>
              </a:gradFill>
              <a:latin typeface="+mn-ea"/>
              <a:cs typeface="+mn-ea"/>
              <a:sym typeface="+mn-ea"/>
            </a:endParaRPr>
          </a:p>
        </p:txBody>
      </p:sp>
      <p:sp>
        <p:nvSpPr>
          <p:cNvPr id="45" name="圆角矩形 1"/>
          <p:cNvSpPr/>
          <p:nvPr>
            <p:custDataLst>
              <p:tags r:id="rId12"/>
            </p:custDataLst>
          </p:nvPr>
        </p:nvSpPr>
        <p:spPr>
          <a:xfrm>
            <a:off x="6966268" y="3813493"/>
            <a:ext cx="4509549" cy="2226897"/>
          </a:xfrm>
          <a:prstGeom prst="roundRect">
            <a:avLst>
              <a:gd name="adj" fmla="val 0"/>
            </a:avLst>
          </a:prstGeom>
          <a:solidFill>
            <a:srgbClr val="376FFF">
              <a:alpha val="10000"/>
            </a:srgbClr>
          </a:solidFill>
          <a:ln w="25400"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13"/>
            </p:custDataLst>
          </p:nvPr>
        </p:nvSpPr>
        <p:spPr>
          <a:xfrm>
            <a:off x="6362383" y="3805873"/>
            <a:ext cx="921785" cy="164416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1500" b="1" dirty="0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4</a:t>
            </a:r>
            <a:endParaRPr lang="en-US" altLang="zh-CN" sz="11500" b="1" dirty="0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4"/>
            </p:custDataLst>
          </p:nvPr>
        </p:nvSpPr>
        <p:spPr>
          <a:xfrm>
            <a:off x="7481253" y="1982153"/>
            <a:ext cx="3651495" cy="139277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可以使用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DeepSeek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，豆包，千问，元宝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....</a:t>
            </a:r>
            <a:endParaRPr lang="en-US" altLang="zh-CN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5"/>
            </p:custDataLst>
          </p:nvPr>
        </p:nvSpPr>
        <p:spPr>
          <a:xfrm>
            <a:off x="7481253" y="1417638"/>
            <a:ext cx="3651495" cy="5642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用AI工具直接生成</a:t>
            </a:r>
            <a:endParaRPr lang="zh-CN" altLang="en-US" sz="22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6"/>
            </p:custDataLst>
          </p:nvPr>
        </p:nvSpPr>
        <p:spPr>
          <a:xfrm>
            <a:off x="7481253" y="4475798"/>
            <a:ext cx="3651495" cy="139277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漫剧工场（需要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vpn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）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,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/>
                </a:solidFill>
                <a:latin typeface="+mn-ea"/>
                <a:cs typeface="+mn-ea"/>
                <a:sym typeface="+mn-ea"/>
              </a:rPr>
              <a:t>咸鱼</a:t>
            </a:r>
            <a:endParaRPr lang="zh-CN" altLang="en-US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7"/>
            </p:custDataLst>
          </p:nvPr>
        </p:nvSpPr>
        <p:spPr>
          <a:xfrm>
            <a:off x="7481253" y="3911283"/>
            <a:ext cx="3651495" cy="5642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直接买剧本</a:t>
            </a:r>
            <a:endParaRPr lang="zh-CN" altLang="en-US" sz="22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720" y="262325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1.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剧本获取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AI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生成小说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5243830" y="1417955"/>
            <a:ext cx="1654175" cy="5111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提示词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693420" y="2694940"/>
            <a:ext cx="1080516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玄幻修真·逆天改命流：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你是一位拥有30年经验的玄幻修真小说家，请创作一部 “逆天改命 + 宗门争霸” 的爽文小说。设定如下：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【题材】</a:t>
            </a:r>
            <a:r>
              <a:rPr lang="zh-CN" altLang="en-US"/>
              <a:t>: 东方玄幻 / 修真 </a:t>
            </a:r>
            <a:r>
              <a:rPr lang="zh-CN" altLang="en-US">
                <a:solidFill>
                  <a:srgbClr val="FF0000"/>
                </a:solidFill>
              </a:rPr>
              <a:t>【主角】</a:t>
            </a:r>
            <a:r>
              <a:rPr lang="zh-CN" altLang="en-US"/>
              <a:t>: 身怀废灵根的少年，意外融合神秘器灵 </a:t>
            </a:r>
            <a:r>
              <a:rPr lang="zh-CN" altLang="en-US">
                <a:solidFill>
                  <a:srgbClr val="FF0000"/>
                </a:solidFill>
              </a:rPr>
              <a:t>【关键词】</a:t>
            </a:r>
            <a:r>
              <a:rPr lang="zh-CN" altLang="en-US"/>
              <a:t>: 修炼、宗门、秘境、飞升、天劫、器灵、背叛 </a:t>
            </a:r>
            <a:r>
              <a:rPr lang="zh-CN" altLang="en-US">
                <a:solidFill>
                  <a:srgbClr val="FF0000"/>
                </a:solidFill>
              </a:rPr>
              <a:t>【世界观】</a:t>
            </a:r>
            <a:r>
              <a:rPr lang="zh-CN" altLang="en-US"/>
              <a:t>: 三千修真界、灵根等级、功法体系 </a:t>
            </a:r>
            <a:r>
              <a:rPr lang="zh-CN" altLang="en-US">
                <a:solidFill>
                  <a:srgbClr val="FF0000"/>
                </a:solidFill>
              </a:rPr>
              <a:t>【文风】</a:t>
            </a:r>
            <a:r>
              <a:rPr lang="zh-CN" altLang="en-US"/>
              <a:t>: 热血爽感、打斗激烈、升级飞快请从世界观设定开始创作，再生成人物设定与主线提纲，</a:t>
            </a:r>
            <a:r>
              <a:rPr lang="zh-CN" altLang="en-US">
                <a:solidFill>
                  <a:srgbClr val="FF0000"/>
                </a:solidFill>
              </a:rPr>
              <a:t>【章节数】</a:t>
            </a:r>
            <a:r>
              <a:rPr lang="zh-CN" altLang="en-US"/>
              <a:t>:</a:t>
            </a:r>
            <a:r>
              <a:rPr lang="en-US" altLang="zh-CN"/>
              <a:t>50</a:t>
            </a:r>
            <a:r>
              <a:rPr lang="zh-CN" altLang="en-US"/>
              <a:t>章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7505" y="2463800"/>
            <a:ext cx="1147699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根据以上小说内容，帮我生成专业的 </a:t>
            </a:r>
            <a:r>
              <a:rPr lang="en-US" altLang="zh-CN"/>
              <a:t>AI </a:t>
            </a:r>
            <a:r>
              <a:rPr lang="zh-CN" altLang="en-US"/>
              <a:t>漫剧剧情漫剧本，改造成适配短视频平台的高停留、高完播文案，严格贴合漫剧短视频的传播逻辑。开头必须设置强悬念、抛钩子，直接制造好奇点，开头必须精彩抓眼，瞬间拉住观众停留，让观众想继续看下去，可使用疑问、反转、反差、危机、秘密、宿命感等钩子形式。彻底删除所有废话、冗余描写、无关铺垫、重复语句，润色后文本画面感极强，方便后续转化为漫剧分镜、台词只保留推动剧情、塑造情绪、制造冲突的核心内容。剧本中必须明确包含，场景、时间、景别、台词/内心独白，及人物动作，不要出现大量旁白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格式必须为：【第*幕：（场景）（时间）】角色：</a:t>
            </a:r>
            <a:r>
              <a:rPr lang="en-US" altLang="zh-CN"/>
              <a:t>   </a:t>
            </a:r>
            <a:r>
              <a:rPr lang="zh-CN" altLang="en-US"/>
              <a:t>光影：景别：画面/动作：台词/内心独白：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720" y="262325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1.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剧本获取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小说转剧本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5243830" y="1417955"/>
            <a:ext cx="1654175" cy="5111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提示词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6718300" y="1647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720" y="262325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剧本拆解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输出专业提示词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09270" y="1983105"/>
            <a:ext cx="7466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 sz="2400">
                <a:solidFill>
                  <a:schemeClr val="accent2"/>
                </a:solidFill>
              </a:rPr>
              <a:t>让</a:t>
            </a:r>
            <a:r>
              <a:rPr lang="en-US" altLang="zh-CN" sz="2400">
                <a:solidFill>
                  <a:schemeClr val="accent2"/>
                </a:solidFill>
              </a:rPr>
              <a:t>AI</a:t>
            </a:r>
            <a:r>
              <a:rPr lang="zh-CN" altLang="en-US" sz="2400">
                <a:solidFill>
                  <a:schemeClr val="accent2"/>
                </a:solidFill>
              </a:rPr>
              <a:t>进行剧本分段</a:t>
            </a:r>
            <a:endParaRPr lang="zh-CN" altLang="en-US" sz="2400">
              <a:solidFill>
                <a:schemeClr val="accent2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0085" y="2631440"/>
            <a:ext cx="83839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/>
              <a:t>提示词：帮我把这份剧本按照</a:t>
            </a:r>
            <a:r>
              <a:rPr lang="en-US" altLang="zh-CN" sz="2000"/>
              <a:t>15</a:t>
            </a:r>
            <a:r>
              <a:rPr lang="zh-CN" altLang="en-US" sz="2000"/>
              <a:t>秒一段的拍摄时间来拆分，拆分的时候注意人物的台词</a:t>
            </a:r>
            <a:r>
              <a:rPr lang="zh-CN" altLang="en-US" sz="2000">
                <a:sym typeface="+mn-ea"/>
              </a:rPr>
              <a:t>、</a:t>
            </a:r>
            <a:r>
              <a:rPr lang="zh-CN" altLang="en-US" sz="2000"/>
              <a:t>语速和字速等，不能超过</a:t>
            </a:r>
            <a:r>
              <a:rPr lang="en-US" altLang="zh-CN" sz="2000"/>
              <a:t>15</a:t>
            </a:r>
            <a:r>
              <a:rPr lang="zh-CN" altLang="en-US" sz="2000"/>
              <a:t>秒，超过的就放下一段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720" y="262325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角色设定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文生图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221740" y="2305050"/>
            <a:ext cx="9749155" cy="3136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阅读下面完整剧本，为剧情中需要固定形象的角色建立人物视觉设定。先分析每个人物的年龄、身份、职业、性格、社会地位和剧情作用，再生成符合角色设定的人物生图提示词。详细描述脸型、五官特点、发型、发色、肤色、身材比例、服装款式、服装材质、颜色、鞋子、记饰和整体气质。人物外形必须符合故事时代与世界观，不得脱离角色身份。核心人物分别输出，普通群众不需要单独设计;如同一角色存在重要换装，则在基础形象不变的情况下单独生成服装版本。每个人物最后加入:标准人设出图，背景纯白，左侧正脸特写，右侧全身三视图:正视图、侧视图、背视图。</a:t>
            </a:r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4476115" y="1417955"/>
            <a:ext cx="3241040" cy="5111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主要人物提示词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2689225" y="5817235"/>
            <a:ext cx="6915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rgbClr val="FF0000"/>
                </a:solidFill>
              </a:rPr>
              <a:t>建议一章一章的提取制作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720" y="262325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角色设定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文生图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4039870" y="1381125"/>
            <a:ext cx="4113530" cy="5111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人物三视图细节提示词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2639060" y="5709285"/>
            <a:ext cx="69151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solidFill>
                  <a:srgbClr val="FF0000"/>
                </a:solidFill>
              </a:rPr>
              <a:t>建议一章一章的提取制作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31925" y="2640965"/>
            <a:ext cx="932878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sym typeface="+mn-ea"/>
              </a:rPr>
              <a:t>角色设定图 (</a:t>
            </a:r>
            <a:r>
              <a:rPr lang="en-US" altLang="zh-CN">
                <a:sym typeface="+mn-ea"/>
              </a:rPr>
              <a:t>Character design sheet)，</a:t>
            </a:r>
            <a:r>
              <a:rPr lang="zh-CN" altLang="en-US">
                <a:sym typeface="+mn-ea"/>
              </a:rPr>
              <a:t>网格化排版 (</a:t>
            </a:r>
            <a:r>
              <a:rPr lang="en-US" altLang="zh-CN">
                <a:sym typeface="+mn-ea"/>
              </a:rPr>
              <a:t>Grid layout)，</a:t>
            </a:r>
            <a:r>
              <a:rPr lang="zh-CN" altLang="en-US">
                <a:sym typeface="+mn-ea"/>
              </a:rPr>
              <a:t>纯白色背景。画面布局如下：右侧整齐排列该角色的正面全身像、侧面全身像、背面全身像；左侧上方为一个极度清晰的正面大头面部特写；左侧下方并排包含三个小方框，用于展示该角色的特定局部特写（如：[细节 1]、[细节 2]、[细节 3]）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720" y="262325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场景设定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文生图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/>
        </p:nvSpPr>
        <p:spPr>
          <a:xfrm>
            <a:off x="4456430" y="1586230"/>
            <a:ext cx="3279140" cy="5111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/>
              <a:t>场景提示词提取</a:t>
            </a:r>
            <a:endParaRPr lang="zh-CN" altLang="en-US" sz="2400"/>
          </a:p>
        </p:txBody>
      </p:sp>
      <p:sp>
        <p:nvSpPr>
          <p:cNvPr id="2" name="文本框 1"/>
          <p:cNvSpPr txBox="1"/>
          <p:nvPr/>
        </p:nvSpPr>
        <p:spPr>
          <a:xfrm>
            <a:off x="645795" y="2552700"/>
            <a:ext cx="108248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帮我解析上传的剧本，输出采用 </a:t>
            </a:r>
            <a:r>
              <a:rPr lang="en-US" altLang="zh-CN"/>
              <a:t>Markdown </a:t>
            </a:r>
            <a:r>
              <a:rPr lang="zh-CN" altLang="en-US"/>
              <a:t>格式。 逐个拆分全部独立场景，每个场景整理：时间、地点、室内 / 室外、空间结构、门窗位置、关键道具、材质、天气、光线方向、色调、氛围。删除人物台词与具体动作，产出可直接用于 </a:t>
            </a:r>
            <a:r>
              <a:rPr lang="en-US" altLang="zh-CN"/>
              <a:t>AI </a:t>
            </a:r>
            <a:r>
              <a:rPr lang="zh-CN" altLang="en-US"/>
              <a:t>绘图的中文场景提示词。相同地点进行合并；时间、天气、场景布置出现明显变化，则单独提取新场景。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28345" y="4678680"/>
            <a:ext cx="108248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优化提示词：为每个场景增加前景、中景和远景层次，并统一建筑风格、材质和色调。风格设定为32</a:t>
            </a:r>
            <a:r>
              <a:rPr lang="en-US" altLang="zh-CN"/>
              <a:t>K</a:t>
            </a:r>
            <a:r>
              <a:rPr lang="zh-CN" altLang="en-US"/>
              <a:t>超高清画质，电影级质感，超精细渲染，精致厚涂笔触，极繁概念艺术风格，大师级光影调校，</a:t>
            </a:r>
            <a:r>
              <a:rPr lang="en-US" altLang="zh-CN"/>
              <a:t>Cq</a:t>
            </a:r>
            <a:r>
              <a:rPr lang="zh-CN" altLang="en-US"/>
              <a:t>插画，3</a:t>
            </a:r>
            <a:r>
              <a:rPr lang="en-US" altLang="zh-CN"/>
              <a:t>D、CCG</a:t>
            </a:r>
            <a:r>
              <a:rPr lang="zh-CN" altLang="en-US"/>
              <a:t>渲染，3</a:t>
            </a:r>
            <a:r>
              <a:rPr lang="en-US" altLang="zh-CN"/>
              <a:t>d</a:t>
            </a:r>
            <a:r>
              <a:rPr lang="zh-CN" altLang="en-US"/>
              <a:t>动浸厚涂，高级</a:t>
            </a:r>
            <a:r>
              <a:rPr lang="en-US" altLang="zh-CN"/>
              <a:t>CG</a:t>
            </a:r>
            <a:r>
              <a:rPr lang="zh-CN" altLang="en-US"/>
              <a:t>厚涂，</a:t>
            </a:r>
            <a:r>
              <a:rPr lang="en-US" altLang="zh-CN"/>
              <a:t>OC</a:t>
            </a:r>
            <a:r>
              <a:rPr lang="zh-CN" altLang="en-US"/>
              <a:t>渲染。无人场景图，宋代建筑风格，极致清晰。给我优化场景提示词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7720" y="262325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视频生成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-15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秒片段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86435" y="1257300"/>
            <a:ext cx="79717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/>
              <a:t>直接拿生成好的视频提示词，附加要出现的人物和场景进行生成即可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762635" y="2671445"/>
            <a:ext cx="8420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场景前后一致性，</a:t>
            </a:r>
            <a:r>
              <a:rPr lang="zh-CN" altLang="en-US"/>
              <a:t>可以拿前一段的尾帧作为第二段的首帧，确保画面一致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680085" y="4475480"/>
            <a:ext cx="103866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/>
              <a:t>现在我们以每 15 秒为一个单位，来撰写 </a:t>
            </a:r>
            <a:r>
              <a:rPr lang="en-US" altLang="zh-CN" sz="2000"/>
              <a:t>Seedance2.0 </a:t>
            </a:r>
            <a:r>
              <a:rPr lang="zh-CN" altLang="en-US" sz="2000"/>
              <a:t>的视频提示词，人物动作、拍摄镜头、景别等，均由你来把控。为了避免单镜头导致画面单调，这段剧本写 4 个镜头左右，四个镜头全部包含在一段 15 秒的提示词里面。只先写第一段，第一段的内容是:</a:t>
            </a:r>
            <a:endParaRPr lang="zh-CN" altLang="en-US" sz="2000"/>
          </a:p>
        </p:txBody>
      </p:sp>
      <p:sp>
        <p:nvSpPr>
          <p:cNvPr id="10" name="文本框 9"/>
          <p:cNvSpPr txBox="1"/>
          <p:nvPr/>
        </p:nvSpPr>
        <p:spPr>
          <a:xfrm>
            <a:off x="572135" y="3559810"/>
            <a:ext cx="7466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n"/>
            </a:pPr>
            <a:r>
              <a:rPr lang="zh-CN" altLang="en-US" sz="2400">
                <a:solidFill>
                  <a:schemeClr val="accent2"/>
                </a:solidFill>
              </a:rPr>
              <a:t>视频生成提示词</a:t>
            </a:r>
            <a:endParaRPr lang="zh-CN" altLang="en-US" sz="2400">
              <a:solidFill>
                <a:schemeClr val="accent2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74720" y="389325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tx1"/>
                </a:solidFill>
                <a:sym typeface="+mn-ea"/>
              </a:rPr>
              <a:t>5.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视频拼接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4545" y="1706245"/>
            <a:ext cx="110712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/>
              <a:t>使用工具：</a:t>
            </a:r>
            <a:r>
              <a:rPr lang="zh-CN" altLang="en-US" sz="2400">
                <a:solidFill>
                  <a:srgbClr val="FF0000"/>
                </a:solidFill>
              </a:rPr>
              <a:t>剪映</a:t>
            </a:r>
            <a:r>
              <a:rPr lang="en-US" altLang="zh-CN" sz="2400">
                <a:solidFill>
                  <a:srgbClr val="FF0000"/>
                </a:solidFill>
              </a:rPr>
              <a:t>       </a:t>
            </a:r>
            <a:r>
              <a:rPr lang="zh-CN" altLang="en-US" sz="2000">
                <a:solidFill>
                  <a:schemeClr val="tx1"/>
                </a:solidFill>
              </a:rPr>
              <a:t>剪映电脑版（</a:t>
            </a:r>
            <a:r>
              <a:rPr lang="en-US" altLang="zh-CN" sz="2000">
                <a:solidFill>
                  <a:schemeClr val="tx1"/>
                </a:solidFill>
              </a:rPr>
              <a:t>Windows/Mac）</a:t>
            </a:r>
            <a:r>
              <a:rPr lang="zh-CN" altLang="en-US" sz="2000">
                <a:solidFill>
                  <a:schemeClr val="tx1"/>
                </a:solidFill>
              </a:rPr>
              <a:t>官网：</a:t>
            </a:r>
            <a:r>
              <a:rPr lang="en-US" altLang="zh-CN" sz="2000">
                <a:solidFill>
                  <a:schemeClr val="tx1"/>
                </a:solidFill>
              </a:rPr>
              <a:t>https://www.capcut.cn/</a:t>
            </a:r>
            <a:endParaRPr lang="zh-CN" altLang="en-US" sz="2000">
              <a:solidFill>
                <a:schemeClr val="tx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可以删除不符合的画面</a:t>
            </a:r>
            <a:endParaRPr lang="zh-CN" altLang="en-US" sz="2400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过渡的地方使用</a:t>
            </a:r>
            <a:r>
              <a:rPr lang="zh-CN" altLang="en-US" sz="2400">
                <a:solidFill>
                  <a:srgbClr val="FF0000"/>
                </a:solidFill>
              </a:rPr>
              <a:t>叠化转场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3295" y="383222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</a:rPr>
              <a:t>免费配音网站</a:t>
            </a:r>
            <a:endParaRPr lang="zh-CN" altLang="en-US" sz="2800" b="1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3295" y="4481195"/>
            <a:ext cx="7453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https://www.modelscope.cn/studios/xmccln/IndexTTS-2-Demo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79095" y="1628140"/>
            <a:ext cx="1114806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【限制】去掉图上的红色线条与文字。红线和文字仅作为镜头运动路径指示参考，最终成片中不得出现红线，文字等。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【运镜】镜头以第一人称 </a:t>
            </a:r>
            <a:r>
              <a:rPr lang="en-US" altLang="zh-CN"/>
              <a:t>FPV </a:t>
            </a:r>
            <a:r>
              <a:rPr lang="zh-CN" altLang="en-US"/>
              <a:t>视角呈现，超高速运镜，电影级，一镜到底，严格沿着图中的红色路径运动，不要偏离，不要跳步，不要简化路线。所过的建筑结构清晰，轮廓合理，纹理质感强。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【轨迹】镜头从【起点】开始，经过【节点 1】，随后【节点 2】，再到【节点3】，最后到达【终点主体】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【质感】画面要求写实，运动顺滑稳定，速度感强，空间连续清晰，不要重复建筑，不要变形，不要出现任何文字，不要出现任何水印，不要出现任何红线与箭头！</a:t>
            </a:r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-7620" y="1042035"/>
            <a:ext cx="1213104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74720" y="389325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tx1"/>
                </a:solidFill>
                <a:sym typeface="+mn-ea"/>
              </a:rPr>
              <a:t>4.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视频生成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-15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秒片段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1620" t="35250"/>
          <a:stretch>
            <a:fillRect/>
          </a:stretch>
        </p:blipFill>
        <p:spPr>
          <a:xfrm>
            <a:off x="314960" y="1008380"/>
            <a:ext cx="9166860" cy="4440555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8058785" y="4121785"/>
            <a:ext cx="1994535" cy="199453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3_3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3_3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solid&quot;:{&quot;brightness&quot;:0.349999994039535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35"/>
  <p:tag name="KSO_WM_DIAGRAM_USE_COLOR_VALUE" val="{&quot;color_scheme&quot;:1,&quot;color_type&quot;:1,&quot;theme_color_indexes&quot;:[5,6,5,6,5,6]}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4_3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4_3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solid&quot;:{&quot;brightness&quot;:0.349999994039535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35"/>
  <p:tag name="KSO_WM_DIAGRAM_USE_COLOR_VALUE" val="{&quot;color_scheme&quot;:1,&quot;color_type&quot;:1,&quot;theme_color_indexes&quot;:[5,6,5,6,5,6]}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2_3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2_3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solid&quot;:{&quot;brightness&quot;:0.349999994039535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35"/>
  <p:tag name="KSO_WM_DIAGRAM_USE_COLOR_VALUE" val="{&quot;color_scheme&quot;:1,&quot;color_type&quot;:1,&quot;theme_color_indexes&quot;:[5,6,5,6,5,6]}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1_2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1_2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2,&quot;pos&quot;:1,&quot;rgb&quot;:&quot;#376fff&quot;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6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0943_4*m_h_f*1_1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0943_4*m_h_a*1_1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1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1_1_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gradient&quot;:[{&quot;brightness&quot;:0,&quot;colorType&quot;:1,&quot;foreColorIndex&quot;:5,&quot;pos&quot;:0.38999998569488525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2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1_2_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gradient&quot;:[{&quot;brightness&quot;:0,&quot;colorType&quot;:1,&quot;foreColorIndex&quot;:8,&quot;pos&quot;:0.38999998569488525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2_2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2_2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1,&quot;foreColorIndex&quot;:8,&quot;pos&quot;:1,&quot;transparency&quot;:1},{&quot;brightness&quot;:0,&quot;colorType&quot;:1,&quot;foreColorIndex&quot;:8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0943_4*m_h_f*1_2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你的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0943_4*m_h_a*1_2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3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1_3_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gradient&quot;:[{&quot;brightness&quot;:0,&quot;colorType&quot;:1,&quot;foreColorIndex&quot;:5,&quot;pos&quot;:0.38999998569488525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3_2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3_2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2,&quot;pos&quot;:1,&quot;rgb&quot;:&quot;#376fff&quot;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0943_4*m_h_f*1_3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0943_4*m_h_a*1_3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5_3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5_3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solid&quot;:{&quot;brightness&quot;:0.3499999940395355,&quot;colorType&quot;:1,&quot;foreColorIndex&quot;:13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35"/>
  <p:tag name="KSO_WM_DIAGRAM_USE_COLOR_VALUE" val="{&quot;color_scheme&quot;:1,&quot;color_type&quot;:1,&quot;theme_color_indexes&quot;:[5,6,5,6,5,6]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4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SUBTYPE" val="d"/>
  <p:tag name="KSO_WM_UNIT_TYPE" val="m_h_i"/>
  <p:tag name="KSO_WM_UNIT_INDEX" val="1_4_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gradient&quot;:[{&quot;brightness&quot;:0,&quot;colorType&quot;:1,&quot;foreColorIndex&quot;:8,&quot;pos&quot;:0.38999998569488525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4_2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4_2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1,&quot;foreColorIndex&quot;:8,&quot;pos&quot;:1,&quot;transparency&quot;:1},{&quot;brightness&quot;:0,&quot;colorType&quot;:1,&quot;foreColorIndex&quot;:8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4_1"/>
  <p:tag name="KSO_WM_UNIT_ID" val="diagram20230943_4*m_h_f*1_4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你的文本具体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0943_4*m_h_a*1_4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0943_4*m_h_i*1_5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gradient&quot;:[{&quot;brightness&quot;:0,&quot;colorType&quot;:1,&quot;foreColorIndex&quot;:5,&quot;pos&quot;:0.38999998569488525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.4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43_4*m_h_i*1_5_2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UNIT_TYPE" val="m_h_i"/>
  <p:tag name="KSO_WM_UNIT_INDEX" val="1_5_2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1,&quot;foreColorIndex&quot;:5,&quot;pos&quot;:1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5_1"/>
  <p:tag name="KSO_WM_UNIT_ID" val="diagram20230943_4*m_h_f*1_5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&#10;智能图形项正文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0943_4*m_h_a*1_5_1"/>
  <p:tag name="KSO_WM_TEMPLATE_CATEGORY" val="diagram"/>
  <p:tag name="KSO_WM_TEMPLATE_INDEX" val="20230943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405.1000061035156,&quot;left&quot;:51.4,&quot;top&quot;:108.44999694824219,&quot;width&quot;:834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12405]}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868_3*l_h_i*1_1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9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868_3*l_h_f*1_1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868_3*l_h_a*1_1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1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1_1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868_3*l_h_i*1_2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2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2_1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868_3*l_h_i*1_3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868_3*l_h_f*1_3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868_3*l_h_a*1_3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3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3_1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868_3*l_h_i*1_4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3*l_h_i*1_4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4_1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DIAGRAM_USE_COLOR_VALUE" val="{&quot;color_scheme&quot;:1,&quot;color_type&quot;:1,&quot;theme_color_indexes&quot;:[]}"/>
</p:tagLst>
</file>

<file path=ppt/tags/tag10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868_3*l_h_f*1_2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868_3*l_h_a*1_2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868_3*l_h_f*1_4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868_3*l_h_a*1_4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2.3264569860744,&quot;left&quot;:53.17503937007874,&quot;top&quot;:103.29480285644532,&quot;width&quot;:850.44837981937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65&quot;:[20205081],&quot;70&quot;:[3322005]}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resource_record_key" val="{&quot;65&quot;:[20205081],&quot;70&quot;:[3312405,3322005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2299</Words>
  <Application>WPS 演示</Application>
  <PresentationFormat>宽屏</PresentationFormat>
  <Paragraphs>137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AI漫剧制作全流程</vt:lpstr>
      <vt:lpstr>1.剧本获取</vt:lpstr>
      <vt:lpstr>1.剧本获取-用AI生成小说</vt:lpstr>
      <vt:lpstr>1.剧本获取-小说转剧本</vt:lpstr>
      <vt:lpstr>2.剧本拆解-输出专业提示词</vt:lpstr>
      <vt:lpstr>3.角色设定-文生图</vt:lpstr>
      <vt:lpstr>3.角色设定-文生图</vt:lpstr>
      <vt:lpstr>3.场景设定-文生图</vt:lpstr>
      <vt:lpstr>4.视频生成-15秒片段</vt:lpstr>
      <vt:lpstr>PowerPoint 演示文稿</vt:lpstr>
      <vt:lpstr>4.视频生成-15秒片段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卡</cp:lastModifiedBy>
  <cp:revision>159</cp:revision>
  <dcterms:created xsi:type="dcterms:W3CDTF">2019-06-19T02:08:00Z</dcterms:created>
  <dcterms:modified xsi:type="dcterms:W3CDTF">2026-09-29T15:37:54Z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9FFAD6C4FFC141A59F84EB0CF5451C42_11</vt:lpwstr>
  </property>
</Properties>
</file>